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"/>
            <a:ext cx="2377440" cy="820399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228600"/>
            <a:ext cx="1280160" cy="6995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82296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1385B"/>
                </a:solidFill>
                <a:latin typeface="Arial"/>
              </a:defRPr>
            </a:pPr>
            <a:r>
              <a:t>AI-Based Load Balancing System</a:t>
            </a:r>
          </a:p>
          <a:p>
            <a:pPr algn="ctr">
              <a:defRPr sz="1400" b="1">
                <a:solidFill>
                  <a:srgbClr val="1E293B"/>
                </a:solidFill>
                <a:latin typeface="Arial"/>
              </a:defRPr>
            </a:pPr>
            <a:r>
              <a:t>Course: Computer Networks | Course Code: CS433</a:t>
            </a:r>
          </a:p>
          <a:p>
            <a:pPr algn="ctr">
              <a:defRPr sz="1400" b="1">
                <a:solidFill>
                  <a:srgbClr val="B91C1C"/>
                </a:solidFill>
                <a:latin typeface="Arial"/>
              </a:defRPr>
            </a:pPr>
            <a:r>
              <a:t>Faculty: Ms. Pragya Vats</a:t>
            </a:r>
          </a:p>
          <a:p>
            <a:pPr algn="ctr">
              <a:defRPr sz="1300">
                <a:solidFill>
                  <a:srgbClr val="64748B"/>
                </a:solidFill>
                <a:latin typeface="Arial"/>
              </a:defRPr>
            </a:pPr>
            <a:r>
              <a:t>Group Members: Krishna Modi [202307010006]</a:t>
            </a:r>
          </a:p>
        </p:txBody>
      </p:sp>
      <p:pic>
        <p:nvPicPr>
          <p:cNvPr id="5" name="Picture 4" descr="network_topolog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0320" y="2926080"/>
            <a:ext cx="7040880" cy="3921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8600"/>
            <a:ext cx="2377440" cy="820399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228600"/>
            <a:ext cx="1280160" cy="6995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64592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1385B"/>
                </a:solidFill>
                <a:latin typeface="Arial"/>
              </a:defRPr>
            </a:pPr>
            <a:r>
              <a:t>DISCUSSION &amp; REVISION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2468880"/>
            <a:ext cx="8534095" cy="3657600"/>
          </a:xfrm>
          <a:prstGeom prst="roundRect">
            <a:avLst/>
          </a:prstGeom>
          <a:solidFill>
            <a:srgbClr val="F0F9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03120" y="2651760"/>
            <a:ext cx="798545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What is an Application-Layer (Layer 7) Reverse Proxy and how does it balance traffic?</a:t>
            </a:r>
          </a:p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Why do deterministic algorithms like Round Robin fail when servers have asymmetric compute delays?</a:t>
            </a:r>
          </a:p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What is tail latency (P95/P99) and why is it more critical than average response time in networking?</a:t>
            </a:r>
          </a:p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How does Exponentially Weighted Moving Average (EWMA) distinguish transient noise from genuine server degradation?</a:t>
            </a:r>
          </a:p>
          <a:p>
            <a:pPr>
              <a:lnSpc>
                <a:spcPct val="135000"/>
              </a:lnSpc>
              <a:spcAft>
                <a:spcPts val="1000"/>
              </a:spcAft>
              <a:defRPr sz="1300">
                <a:solidFill>
                  <a:srgbClr val="1E293B"/>
                </a:solidFill>
                <a:latin typeface="Arial"/>
              </a:defRPr>
            </a:pPr>
            <a:r>
              <a:t>•  Which Computer Networks syllabus units are most directly demonstrated in this end-to-end implementation?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What is this project about?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High-level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474720" cy="4114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Purpose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Use machine learning to dynamically predict backend response latency and intelligently route incoming HTTP requests away from degraded or slow servers.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474720" cy="41148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Networking link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Operates at Layer 7 (HTTP/1.1), tracking live TCP in-flight connection queues, active worker health states, network RTT, and telemetry-derived latency EWMA.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03120"/>
            <a:ext cx="3474720" cy="41148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Expected output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Predict completion latency per candidate node, steer over 95% of traffic away from stragglers, and cut P95 tail latency by over 60%.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Introduction to Load Balancing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Why do distributed networks need dynamic balancing?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474720" cy="4114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Computer network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Modern distributed applications distribute client web requests across fleets of backend servers to handle concurrency, scale throughput, and prevent single-point failures.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474720" cy="41148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Performance challenge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Real clusters are heterogeneous. Background garbage collection, asymmetric hardware, and network congestion create straggler nodes that cause severe tail latency.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03120"/>
            <a:ext cx="3474720" cy="41148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AI opportunity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Supervised machine learning algorithms learn non-linear execution patterns from multi-variate telemetry features in real time, routing traffic adaptively.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The challenge we want to solve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474720" cy="4114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Problem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Static cyclic load balancing (Round Robin) and simple reactive policies (Least Connections) cannot account for asymmetric server processing speeds or heterogeneous task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474720" cy="41148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Need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 production-ready Layer 7 proxy that continuously samples live node telemetry and utilizes machine learning regression to select the optimal, lowest-latency path.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03120"/>
            <a:ext cx="3474720" cy="41148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Project scope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 full-stack, containerized prototype featuring FastAPI, PostgreSQL, Scikit-Learn Random Forest, and a real-time React operational HUD.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Aim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Project goals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Aim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Design, implement, and benchmark an intelligent Layer-7 load balancing prototype that leverages supervised regression to minimize tail response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Objective 1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Collect and persist multi-dimensional telemetry (CPU, RAM, queue depth, EWMA latency, network RTT) via an autonomous 15s background prober.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Objective 2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Train and deploy a Random Forest Regressor to predict completion latency from 8 live features, with strict safe fallback guarantees.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Objective 3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Empirically benchmark AI routing against Round Robin, Weighted Round Robin, and Least Connections across controlled synthetic workloads.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Existing System and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Traditional load balancing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3474720" cy="411480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Traditional approach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Standard load balancers rely on deterministic cyclic sequences (Round Robin), static capacity ratios (Weighted RR), or instantaneous active TCP socket counts (Least Connections).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474720" cy="41148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Limitations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Completely blind to underlying server performance disparities. When a slow node (e.g. Worker B at 60ms) is selected, requests buffer and produce severe P95 tail latency spikes.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03120"/>
            <a:ext cx="3474720" cy="411480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86000"/>
            <a:ext cx="3108960" cy="374904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Balanced view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AI evaluation incurs a small CPU inference overhead (~1.5ms). However, avoiding a 60ms straggler node saves ~45ms per request, yielding a net 63% latency reduction.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Proposed AI-Based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Machine-learning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Input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An 8-dimensional telemetry feature vector sampled from candidate nodes (CPU%, Memory%, Active Requests, EWMA Latency, RTT, Error Rate, Weight, Request Class).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Preparation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Continuous validation of telemetry freshness (&lt;120s TTL), numeric sanitization, categorical workload encoding, and 80/20 train/validation calibration splits.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Prediction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Supervised Random Forest Regressor predicting expected response latency in milliseconds for every eligible candidate node.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Output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Proxy forwards request to the winning minimum-latency node with automated fallback to Least Connections if ML inference fails.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Computer Networks Concepts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Connection to the five syllabus units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0"/>
            <a:ext cx="5303520" cy="128016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I: Application Layer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Layer-7 HTTP/1.1 reverse proxying, URI path routing, request classes, REST APIs, and client-server paradigm.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303520" cy="128016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II: Transport Layer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TCP socket connection pooling, in-flight connection counters, flow duration, port mapping, and timeout bounding.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474720"/>
            <a:ext cx="5303520" cy="12801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III: Network Layer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IP addressing, Docker bridge subnet routing, packet forwarding delays, and inter-container communication.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474720"/>
            <a:ext cx="5303520" cy="128016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IV: Data Link Layer &amp; Physical Timing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Round-trip propagation delay (RTT), frame transmission timing, and asymmetric network latency modeling.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937760"/>
            <a:ext cx="10927080" cy="12801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56132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Unit V: Network Security &amp; Operational Management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Header-based administrative authentication (X-Admin-Token), active health probing, and zero-downtime fault tolerance.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High-level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1. Ingress &amp; Telemetry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FastAPI reverse proxy terminating client HTTP sessions, coupled with an asynchronous 15s background prober polling worker /health and /metrics.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2. Feature Pipeline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Synthesizes 8 real-time features per candidate node, filtering out disabled or stale workers to eliminate black-hole routing.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3. AI Model Engine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Scikit-Learn RandomForestRegressor scoring all eligible candidates; includes safe fallback circuit breaker to Least Connections.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4. Interactive Cockpit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React 19 single-page dashboard featuring SVG network packet flow, real-time sparklines, and a 4-way comparative shootout.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Dataset and Network Traffic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Empirical telemetry and features 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Dataset option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Production-grade empirical telemetry samples and decision audit records logged directly into PostgreSQL across light, normal, and heavy workloads.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Example features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latency_ewma_ms, request_class, capacity_weight, network_rtt_ms, cpu_percent, memory_percent, active_requests, error_rate.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Labels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Ground-truth measured round-trip response time (actual_latency_ms) captured via high-resolution monotonic clocks (time.perf_counter).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Data quality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Finite number validation, rejection of non-numeric values, and exclusion of stale telemetry older than 120s prevent metric leakage.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AI/ML Algorithm and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Supervised regression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Algorithm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Random Forest Regressor (100 decision trees) combining bootstrap aggregation and feature subspace sampling to model non-linear queue delays.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Workflow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Collect successful calibration decisions -&gt; 80/20 train/validation split -&gt; fit Random Forest -&gt; validate MAE/RMSE -&gt; persist via Joblib.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Baseline comparison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Benchmarked head-to-head against classical Computer Networks algorithms: Round Robin, Weighted Round Robin (2x/1x/1x), and Least Connections.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Reproducibility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Deterministic seeds (random_state=42), explicit schema versioning (FEATURE_SCHEMA_VERSION='v1'), and strict artifact validation.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Tools and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Full-stack implementation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Languages &amp; Runtime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Python 3.11+ (FastAPI, Uvicorn, Asyncio) for the high-performance proxy core; TypeScript and React 19 for the operational cockpit.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Libraries &amp; Machine Learning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Scikit-Learn, Joblib, NumPy, SQLAlchemy, Pydantic, HTTPX, Pytest, Tailwind CSS v3, and Lucide React Icons.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Database &amp; Infrastructure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PostgreSQL 16 Alpine, Nginx 1.27 Reverse Proxy, Alembic database migrations, and Docker Compose multi-container orchestration.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Network Analysis &amp; Testing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Synthetic traffic generator (burst/spike modes), automated 4-way shootout comparative benchmark, and Pytest integration suite (26 tests).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Implementation and 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How the prototype executes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0"/>
            <a:ext cx="5303520" cy="128016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1: Request Ingress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Client sends HTTP request to /api/v1/route with payload complexity query parameter (light, normal, or heavy).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303520" cy="128016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19456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2: Candidate Node Filtering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System filters registered backends to only include nodes that are enabled, healthy, and have fresh telemetry (&lt;120s).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474720"/>
            <a:ext cx="5303520" cy="128016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3: AI Inference &amp; Selection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Assembles 8-feature vectors for candidates and runs Random Forest regression to pick the minimum latency node in &lt;1.5ms.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474720"/>
            <a:ext cx="5303520" cy="1280160"/>
          </a:xfrm>
          <a:prstGeom prst="roundRect">
            <a:avLst/>
          </a:prstGeom>
          <a:solidFill>
            <a:srgbClr val="FEFCE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493776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4: Upstream HTTP Proxying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Attaches correlation ID (X-Request-ID), increments in-flight counter, and proxies request to target backend via HTTPX.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4937760"/>
            <a:ext cx="10927080" cy="12801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20640"/>
            <a:ext cx="10561320" cy="91440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Step 5: Telemetry Logging &amp; Real-Time Visualization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Computes actual completion latency, persists decision in PostgreSQL, and updates live sparklines on the React HUD.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Results and Performance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Empirical benchmark shootout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011680"/>
            <a:ext cx="3474720" cy="20116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3108960" cy="1645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P95 Tail Latency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Round Robin: 74.4 ms</a:t>
            </a:r>
            <a:br/>
            <a:r>
              <a:t>Weighted RR: 75.9 ms</a:t>
            </a:r>
            <a:br/>
            <a:r>
              <a:t>Least Conns: 34.1 ms</a:t>
            </a:r>
            <a:br/>
            <a:r>
              <a:t>AI Latency: 27.5 ms (63% Faster!)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474720" cy="201168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194560"/>
            <a:ext cx="3108960" cy="1645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Median (P50) &amp; Mean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P50 Latency: 26.3 ms (AI) vs 43.9 ms (RR)</a:t>
            </a:r>
            <a:br/>
            <a:r>
              <a:t>Mean Latency: 25.7 ms (AI) vs 52.6 ms (RR)</a:t>
            </a:r>
            <a:br/>
            <a:r>
              <a:t>Consistent low-jitter response profile.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011680"/>
            <a:ext cx="3474720" cy="201168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108960" cy="16459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ctr">
              <a:defRPr sz="1400" b="1">
                <a:solidFill>
                  <a:srgbClr val="11385B"/>
                </a:solidFill>
                <a:latin typeface="Arial"/>
              </a:defRPr>
            </a:pPr>
            <a:r>
              <a:t>Straggler Avoidance</a:t>
            </a:r>
          </a:p>
          <a:p>
            <a:br/>
            <a:pPr algn="ctr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Worker B (60ms slow node) was avoided 100% of the time under AI routing (0 hits vs 2 hits under Round Robin).</a:t>
            </a:r>
          </a:p>
        </p:txBody>
      </p:sp>
      <p:pic>
        <p:nvPicPr>
          <p:cNvPr id="14" name="Picture 13" descr="shootout_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5920" y="4206240"/>
            <a:ext cx="8869680" cy="492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Advantages, Limitations and Applications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What the project can and cannot 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Advantages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Automated straggler detection, 63% tail latency reduction, zero-downtime fallback to Least Connections, and complete model explainability.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Limitations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Incurs ~1.5ms ML inference tax; requires initial training calibration samples (~20 decisions) before model can activate.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Applications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Enterprise microservice meshes, cloud API gateways, financial low-latency trading feeds, and heterogeneous server clusters.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Ethics &amp; Operational Security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Strict administrative token protection, private header preservation, bounded timeouts, and transparent feature attribution.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Conclusion and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Summary and improvements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Conclusion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The prototype successfully proves that supervised machine learning significantly outperforms static heuristics in heterogeneous cloud networks.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Future scope 1: Reinforcement Learning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Implement online Contextual Bandits or Q-learning to adapt to gradual performance drift without batch retraining.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Future scope 2: Multi-Region Geolocation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Extend feature vectors to factor in cross-region WAN transit costs, Geo-IP latency, and egress bandwidth limits.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Future scope 3: Kernel eBPF / XDP Bypass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Execute packet steering directly inside the Linux kernel via eBPF/XDP, eliminating user-space memory copies for sub-microsecond routing.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"/>
            <a:ext cx="2194560" cy="757292"/>
          </a:xfrm>
          <a:prstGeom prst="rect">
            <a:avLst/>
          </a:prstGeom>
        </p:spPr>
      </p:pic>
      <p:pic>
        <p:nvPicPr>
          <p:cNvPr id="3" name="Picture 2" descr="logo_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0" y="164592"/>
            <a:ext cx="1097280" cy="5996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96012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1385B"/>
                </a:solidFill>
                <a:latin typeface="Arial"/>
              </a:defRPr>
            </a:pPr>
            <a: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1109441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i="1">
                <a:solidFill>
                  <a:srgbClr val="64748B"/>
                </a:solidFill>
                <a:latin typeface="Arial"/>
              </a:defRPr>
            </a:pPr>
            <a:r>
              <a:t>Suggested sources to cite in the final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11094415" cy="36576"/>
          </a:xfrm>
          <a:prstGeom prst="rect">
            <a:avLst/>
          </a:prstGeom>
          <a:solidFill>
            <a:srgbClr val="B91C1C"/>
          </a:solidFill>
          <a:ln>
            <a:solidFill>
              <a:srgbClr val="B9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649224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Arial"/>
              </a:defRPr>
            </a:pPr>
            <a:r>
              <a:t>COMPUTER NETWORKS | AI-BASED MINI PROJECT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03120"/>
            <a:ext cx="5303520" cy="1920240"/>
          </a:xfrm>
          <a:prstGeom prst="roundRect">
            <a:avLst/>
          </a:prstGeom>
          <a:solidFill>
            <a:srgbClr val="F0F9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Academic Literature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Dean, J. &amp; Barroso, L. A. (2013). 'The Tail at Scale', Communications of the ACM, 56(2), 74-80.</a:t>
            </a:r>
            <a:br/>
            <a:r>
              <a:t>Alizadeh et al. (2014). 'CONGA: Distributed Congestion-Aware Load Balancing'.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103120"/>
            <a:ext cx="5303520" cy="192024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28600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Machine Learning &amp; Data Science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Pedregosa et al. (2011). 'Scikit-learn: Machine Learning in Python', Journal of Machine Learning Research.</a:t>
            </a:r>
            <a:br/>
            <a:r>
              <a:t>Breiman, L. (2001). 'Random Forests', Machine Learning, 45(1), 5-32.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251960"/>
            <a:ext cx="5303520" cy="192024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Networking Standards &amp; Protocols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Fielding, R. et al. (2022). RFC 9110: HTTP Semantics, Internet Engineering Task Force (IETF).</a:t>
            </a:r>
            <a:br/>
            <a:r>
              <a:t>HAProxy Technologies (2024). 'Dynamic Weight and Queue Load Balancing Whitepaper'.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303520" cy="19202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434840"/>
            <a:ext cx="4937760" cy="15544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defRPr sz="1400" b="1">
                <a:solidFill>
                  <a:srgbClr val="11385B"/>
                </a:solidFill>
                <a:latin typeface="Arial"/>
              </a:defRPr>
            </a:pPr>
            <a:r>
              <a:t>Project Repository &amp; Deliverables</a:t>
            </a:r>
          </a:p>
          <a:p>
            <a:br/>
            <a:pPr algn="l">
              <a:lnSpc>
                <a:spcPct val="125000"/>
              </a:lnSpc>
              <a:defRPr sz="1150">
                <a:solidFill>
                  <a:srgbClr val="1E293B"/>
                </a:solidFill>
                <a:latin typeface="Arial"/>
              </a:defRPr>
            </a:pPr>
            <a:r>
              <a:t>Source code repository: github.com/Krishna-Modi12/ai-based-load-balancing</a:t>
            </a:r>
            <a:br/>
            <a:r>
              <a:t>Includes full test suite (26 passed), Docker Compose environment, and live React HUD.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