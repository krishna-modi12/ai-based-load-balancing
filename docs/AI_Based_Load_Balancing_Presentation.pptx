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2377440" cy="820399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228600"/>
            <a:ext cx="1280160" cy="6995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229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1385B"/>
                </a:solidFill>
                <a:latin typeface="Arial"/>
              </a:defRPr>
            </a:pPr>
            <a:r>
              <a:t>AI-Based Load Balancing System</a:t>
            </a:r>
          </a:p>
          <a:p>
            <a:pPr algn="ctr">
              <a:defRPr sz="1400" b="1">
                <a:solidFill>
                  <a:srgbClr val="1E293B"/>
                </a:solidFill>
                <a:latin typeface="Arial"/>
              </a:defRPr>
            </a:pPr>
            <a:r>
              <a:t>Course: Computer Networks | Course Code: CS433</a:t>
            </a:r>
          </a:p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Faculty: Ms. Pragya Vats</a:t>
            </a:r>
          </a:p>
          <a:p>
            <a:pPr algn="ctr">
              <a:defRPr sz="1300">
                <a:solidFill>
                  <a:srgbClr val="64748B"/>
                </a:solidFill>
                <a:latin typeface="Arial"/>
              </a:defRPr>
            </a:pPr>
            <a:r>
              <a:t>Group Members: Krishna Modi [202307010006]</a:t>
            </a:r>
          </a:p>
        </p:txBody>
      </p:sp>
      <p:pic>
        <p:nvPicPr>
          <p:cNvPr id="5" name="Picture 4" descr="network_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2926080"/>
            <a:ext cx="7040880" cy="3921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2377440" cy="820399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228600"/>
            <a:ext cx="1280160" cy="6995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1385B"/>
                </a:solidFill>
                <a:latin typeface="Arial"/>
              </a:defRPr>
            </a:pPr>
            <a:r>
              <a:t>DISCUSSION &amp; REVISION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468880"/>
            <a:ext cx="8534095" cy="3657600"/>
          </a:xfrm>
          <a:prstGeom prst="roundRect">
            <a:avLst/>
          </a:prstGeom>
          <a:solidFill>
            <a:srgbClr val="F0F9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79854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What is an Application-Layer (Layer 7) Reverse Proxy and how does it balance traffic?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Why do deterministic algorithms like Round Robin fail when servers have asymmetric compute delays?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What is tail latency (P95/P99) and why is it more critical than average response time in networking?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How does Exponentially Weighted Moving Average (EWMA) distinguish transient noise from genuine server degradation?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Which Computer Networks syllabus units are most directly demonstrated in this end-to-end implementation?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What is this project about?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High-level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Purpose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Use machine learning to dynamically predict backend response latency and intelligently route incoming HTTP requests away from degraded or slow servers.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Networking link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Operates at Layer 7 (HTTP/1.1), tracking live TCP in-flight connection queues, active worker health states, network RTT, and telemetry-derived latency EWMA.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Expected output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Predict completion latency per candidate node, steer over 95% of traffic away from stragglers, and cut P95 tail latency by over 60%.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Introduction to Load Balancing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Why do distributed networks need dynamic balancing?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Computer network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Modern distributed applications distribute client web requests across fleets of backend servers to handle concurrency, scale throughput, and prevent single-point failures.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Performance challenge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Real clusters are heterogeneous. Background garbage collection, asymmetric hardware, and network congestion create straggler nodes that cause severe tail latency.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AI opportunity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Supervised machine learning algorithms learn non-linear execution patterns from multi-variate telemetry features in real time, routing traffic adaptively.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The challenge we want to 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Problem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Static cyclic load balancing (Round Robin) and simple reactive policies (Least Connections) cannot account for asymmetric server processing speeds or heterogeneous task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Need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 production-ready Layer 7 proxy that continuously samples live node telemetry and utilizes machine learning regression to select the optimal, lowest-latency path.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Project scope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 full-stack, containerized prototype featuring FastAPI, PostgreSQL, Scikit-Learn Random Forest, and a real-time React operational HUD.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Aim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Project goals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Aim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Design, implement, and benchmark an intelligent Layer-7 load balancing prototype that leverages supervised regression to minimize tail response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1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Collect and persist multi-dimensional telemetry (CPU, RAM, queue depth, EWMA latency, network RTT) via an autonomous 15s background prober.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2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Train and deploy a Random Forest Regressor to predict completion latency from 8 live features, with strict safe fallback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3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Empirically benchmark AI routing against Round Robin, Weighted Round Robin, and Least Connections across controlled synthetic workloads.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Existing System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Traditional load balancing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Traditional approach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Standard load balancers rely on deterministic cyclic sequences (Round Robin), static capacity ratios (Weighted RR), or instantaneous active TCP socket counts (Least Connections).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Limitations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Completely blind to underlying server performance disparities. When a slow node (e.g. Worker B at 60ms) is selected, requests buffer and produce severe P95 tail latency spikes.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Balanced view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AI evaluation incurs a small CPU inference overhead (~1.5ms). However, avoiding a 60ms straggler node saves ~45ms per request, yielding a net 63% latency reduction.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Proposed AI-Based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Machine-learning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Input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An 8-dimensional telemetry feature vector sampled from candidate nodes (CPU%, Memory%, Active Requests, EWMA Latency, RTT, Error Rate, Weight, Request Class).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Preparation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Continuous validation of telemetry freshness (&lt;120s TTL), numeric sanitization, categorical workload encoding, and 80/20 train/validation calibration splits.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Prediction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Supervised Random Forest Regressor predicting expected response latency in milliseconds for every eligible candidate node.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Output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Proxy forwards request to the winning minimum-latency node with automated fallback to Least Connections if ML inference fails.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Computer Networks Concepts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Connection to the five syllabus units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5303520" cy="12801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I: Application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Layer-7 HTTP/1.1 reverse proxying, URI path routing, request classes, REST APIs, and client-server paradigm.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303520" cy="128016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II: Transport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TCP socket connection pooling, in-flight connection counters, flow duration, port mapping, and timeout bounding.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530352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III: Network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IP addressing, Docker bridge subnet routing, packet forwarding delays, and inter-container communication.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474720"/>
            <a:ext cx="5303520" cy="128016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IV: Data Link Layer &amp; Physical Timing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Round-trip propagation delay (RTT), frame transmission timing, and asymmetric network latency modeling.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937760"/>
            <a:ext cx="10927080" cy="12801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56132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V: Network Security &amp; Operational Management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Header-based administrative authentication (X-Admin-Token), active health probing, and zero-downtime fault tolerance.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High-level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1. Ingress &amp; Telemetry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FastAPI reverse proxy terminating client HTTP sessions, coupled with an asynchronous 15s background prober polling worker /health and /metrics.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2. Feature Pipeline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Synthesizes 8 real-time features per candidate node, filtering out disabled or stale workers to eliminate black-hole routing.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3. AI Model Engine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Scikit-Learn RandomForestRegressor scoring all eligible candidates; includes safe fallback circuit breaker to Least Connections.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4. Interactive Cockpit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React 19 single-page dashboard featuring SVG network packet flow, real-time sparklines, and a 4-way comparative shootout.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Dataset and Network Traffic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Empirical telemetry and features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Dataset option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Production-grade empirical telemetry samples and decision audit records logged directly into PostgreSQL across light, normal, and heavy workloads.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Example features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latency_ewma_ms, request_class, capacity_weight, network_rtt_ms, cpu_percent, memory_percent, active_requests, error_rate.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Labels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Ground-truth measured round-trip response time (actual_latency_ms) captured via high-resolution monotonic clocks (time.perf_counter).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 quality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Finite number validation, rejection of non-numeric values, and exclusion of stale telemetry older than 120s prevent metric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AI/ML Algorithm and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Supervised regression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Algorithm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Random Forest Regressor (100 decision trees) combining bootstrap aggregation and feature subspace sampling to model non-linear queue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Workflow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Collect successful calibration decisions -&gt; 80/20 train/validation split -&gt; fit Random Forest -&gt; validate MAE/RMSE -&gt; persist via Joblib.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Baseline comparison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Benchmarked head-to-head against classical Computer Networks algorithms: Round Robin, Weighted Round Robin (2x/1x/1x), and Least Connections.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Reproducibility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Deterministic seeds (random_state=42), explicit schema versioning (FEATURE_SCHEMA_VERSION='v1'), and strict artifact validation.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Full-stack implementation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Languages &amp; Runtime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Python 3.11+ (FastAPI, Uvicorn, Asyncio) for the high-performance proxy core; TypeScript and React 19 for the operational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Libraries &amp; Machine Learning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Scikit-Learn, Joblib, NumPy, SQLAlchemy, Pydantic, HTTPX, Pytest, Tailwind CSS v3, and Lucide React Icons.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Database &amp; Infrastructure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PostgreSQL 16 Alpine, Nginx 1.27 Reverse Proxy, Alembic database migrations, and Docker Compose multi-container orchestration.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 Analysis &amp; Testing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Synthetic traffic generator (burst/spike modes), automated 5-way shootout comparative benchmark, and Pytest integration suite (36 tests).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Distributed Resilience &amp; Outlier Ejection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Circuit Breakers &amp; High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Circuit State Machine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Tracks CLOSED (healthy), OPEN (ejected), and HALF_OPEN (canary probe) states per backend node according to enterprise Envoy / Istio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Outlier Ejection Criteria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Nodes suffering 3 consecutive timeouts or exceeding 85ms latency EWMA are automatically ejected from candidate pools for a 15-second cooldown.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Canary Recovery Probing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Following cooldown expiration, transitions to HALF_OPEN to dispatch a single canary probe. Successful response instantly restores CLOSED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Zero-Blackhole Safe Mode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In cascading cluster failure where all nodes trip OPEN, the proxy gracefully falls back to uniform degradation, preventing complete traffic drops.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Multi-Model ML Tournament Arena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Benchmarking Random Forest vs Gradient Boosting vs 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4389120" cy="1371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02336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Random Forest (Champion - 1st)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• Type: Bagging (100 Trees) | MAE: 0.60 ms | R²: 96.5%</a:t>
            </a:r>
            <a:br/>
            <a:r>
              <a:t>• P95 Inference: 1.48 ms</a:t>
            </a:r>
            <a:br/>
            <a:r>
              <a:t>• Why it wins: High variance reduction handles noisy network telemetry with zero hyperparameter assumptions.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20440"/>
            <a:ext cx="4389120" cy="13716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402336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Histogram Gradient Boosting (Runner-Up - 2nd)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• Type: Boosting (LightGBM-style) | MAE: 0.85 ms | R²: 94.2%</a:t>
            </a:r>
            <a:br/>
            <a:r>
              <a:t>• P95 Inference: 0.95 ms</a:t>
            </a:r>
            <a:br/>
            <a:r>
              <a:t>• Fast integer binning and rapid training, but sensitive to tuning under bursty loads.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029200"/>
            <a:ext cx="4389120" cy="13716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12080"/>
            <a:ext cx="402336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Ridge Regression (Baseline - 3rd)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• Type: L2 Regularized Linear Model | MAE: 2.10 ms | R²: 82.0%</a:t>
            </a:r>
            <a:br/>
            <a:r>
              <a:t>• P95 Inference: 0.08 ms</a:t>
            </a:r>
            <a:br/>
            <a:r>
              <a:t>• Why it fails: Underfits non-linear queue saturation and CPU throttling thresholds.</a:t>
            </a:r>
          </a:p>
        </p:txBody>
      </p:sp>
      <p:pic>
        <p:nvPicPr>
          <p:cNvPr id="14" name="Picture 13" descr="model_tournament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011680"/>
            <a:ext cx="6309360" cy="334024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Implementation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How the prototype executes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5303520" cy="12801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1: Request Ingress &amp; Session Key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Client sends HTTP request to /api/v1/route with payload complexity (light/normal/heavy) and optional session key for consistent hash affinity.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303520" cy="128016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2: Circuit Breaker &amp; Health Filter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Filters candidate backends to only healthy, enabled nodes not currently ejected by circuit breakers and with fresh telemetry (&lt;120s).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530352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3: Algorithm Execution (5 Policies)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Selects optimal node using active strategy: Round Robin, Weighted RR, Least Conns, Consistent Hash (MD5 ring), or AI Latency Regressor.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474720"/>
            <a:ext cx="5303520" cy="128016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4: Upstream HTTP Proxying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Attaches correlation ID (X-Request-ID), increments in-flight counter, and proxies request to target backend via HTTPX.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937760"/>
            <a:ext cx="10927080" cy="12801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56132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5: Telemetry Logging &amp; Real-Time Visualization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Computes actual completion latency, updates circuit breaker EWMA, persists decision in PostgreSQL, and updates live sparklines on the React HUD.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Results and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Empirical 5-way shootout &amp; CDF curve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3474720" cy="18288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108960" cy="1463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P95 Tail Latency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Round Robin: 74.4 ms</a:t>
            </a:r>
            <a:br/>
            <a:r>
              <a:t>Weighted RR: 75.9 ms</a:t>
            </a:r>
            <a:br/>
            <a:r>
              <a:t>Least Conns: 34.1 ms</a:t>
            </a:r>
            <a:br/>
            <a:r>
              <a:t>Consistent Hash: 61.2 ms</a:t>
            </a:r>
            <a:br/>
            <a:r>
              <a:t>AI Latency: 27.5 ms (63% Faster!)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474720" cy="1828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108960" cy="1463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Median (P50) &amp; Mean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P50 Latency: 26.3 ms (AI) vs 43.9 ms (RR)</a:t>
            </a:r>
            <a:br/>
            <a:r>
              <a:t>Mean Latency: 25.7 ms (AI) vs 52.6 ms (RR)</a:t>
            </a:r>
            <a:br/>
            <a:r>
              <a:t>Consistent low-jitter response profile.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920240"/>
            <a:ext cx="3474720" cy="1828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108960" cy="1463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Straggler Avoidance &amp; CDF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Worker B (60ms slow node) avoided 100% of the time under AI.</a:t>
            </a:r>
            <a:br/>
            <a:r>
              <a:t>CDF curve demonstrates severe tail suppression (Dean &amp; Barroso 2013).</a:t>
            </a:r>
          </a:p>
        </p:txBody>
      </p:sp>
      <p:pic>
        <p:nvPicPr>
          <p:cNvPr id="14" name="Picture 13" descr="shootout_5way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31920"/>
            <a:ext cx="5303520" cy="2651760"/>
          </a:xfrm>
          <a:prstGeom prst="rect">
            <a:avLst/>
          </a:prstGeom>
        </p:spPr>
      </p:pic>
      <p:pic>
        <p:nvPicPr>
          <p:cNvPr id="15" name="Picture 14" descr="cdf_latency_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931920"/>
            <a:ext cx="539496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Advantages, Limitations and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What the project can and cannot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Advantages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Automated straggler detection, 63% tail latency reduction, zero-downtime fallback to Least Connections, and complete model explainability.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Limitations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Incurs ~1.5ms ML inference tax; requires initial training calibration samples (~20 decisions) before model can activate.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Applications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Enterprise microservice meshes, cloud API gateways, financial low-latency trading feeds, and heterogeneous server clusters.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Ethics &amp; Operational Security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Strict administrative token protection, private header preservation, bounded timeouts, and transparent feature attribution.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Conclusion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Summary and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Conclusion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The prototype successfully proves that supervised machine learning significantly outperforms static heuristics in heterogeneous cloud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1: Reinforcement Learning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Implement online Contextual Bandits or Q-learning to adapt to gradual performance drift without batch retraining.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2: Multi-Region Geolocation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Extend feature vectors to factor in cross-region WAN transit costs, Geo-IP latency, and egress bandwidth limits.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3: Kernel eBPF / XDP Bypass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Execute packet steering directly inside the Linux kernel via eBPF/XDP, eliminating user-space memory copies for sub-microsecond routing.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Suggested sources to cite in the final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Academic Literature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Dean, J. &amp; Barroso, L. A. (2013). 'The Tail at Scale', Communications of the ACM, 56(2), 74-80.</a:t>
            </a:r>
            <a:br/>
            <a:r>
              <a:t>Alizadeh et al. (2014). 'CONGA: Distributed Congestion-Aware Load Balancing'.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Machine Learning &amp; Data Science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Pedregosa et al. (2011). 'Scikit-learn: Machine Learning in Python', Journal of Machine Learning Research.</a:t>
            </a:r>
            <a:br/>
            <a:r>
              <a:t>Breiman, L. (2001). 'Random Forests', Machine Learning, 45(1), 5-32.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Networking Standards &amp; Protocols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Fielding, R. et al. (2022). RFC 9110: HTTP Semantics, Internet Engineering Task Force (IETF).</a:t>
            </a:r>
            <a:br/>
            <a:r>
              <a:t>HAProxy Technologies (2024). 'Dynamic Weight and Queue Load Balancing Whitepaper'.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Project Repository &amp; Deliverables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Source code repository: github.com/Krishna-Modi12/ai-based-load-balancing</a:t>
            </a:r>
            <a:br/>
            <a:r>
              <a:t>Includes full test suite (36 passed), Docker Compose environment, and live React HUD.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